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8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47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55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74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564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99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10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488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070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286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68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37892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958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0495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3982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863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146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83E58-DB65-475A-B4D6-488CBCC56FB2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7C14364-0B89-4E09-B081-81ECE3C3C3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800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65758-8E93-E47A-85C6-E9023B166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1491" y="592826"/>
            <a:ext cx="6060784" cy="1646302"/>
          </a:xfrm>
        </p:spPr>
        <p:txBody>
          <a:bodyPr/>
          <a:lstStyle/>
          <a:p>
            <a:r>
              <a:rPr lang="en-IN" b="1" dirty="0"/>
              <a:t>NLP Technologies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C25D8-82C1-2264-67EC-A269236A3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785" y="2880549"/>
            <a:ext cx="7766936" cy="2828041"/>
          </a:xfrm>
        </p:spPr>
        <p:txBody>
          <a:bodyPr>
            <a:noAutofit/>
          </a:bodyPr>
          <a:lstStyle/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Tokenization, </a:t>
            </a:r>
            <a:r>
              <a:rPr lang="en-IN" dirty="0" err="1">
                <a:solidFill>
                  <a:schemeClr val="tx1"/>
                </a:solidFill>
              </a:rPr>
              <a:t>Stopword</a:t>
            </a:r>
            <a:r>
              <a:rPr lang="en-IN" dirty="0">
                <a:solidFill>
                  <a:schemeClr val="tx1"/>
                </a:solidFill>
              </a:rPr>
              <a:t> removal</a:t>
            </a:r>
          </a:p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Lemmatization (</a:t>
            </a:r>
            <a:r>
              <a:rPr lang="en-IN" dirty="0" err="1">
                <a:solidFill>
                  <a:schemeClr val="tx1"/>
                </a:solidFill>
              </a:rPr>
              <a:t>spaCy</a:t>
            </a:r>
            <a:r>
              <a:rPr lang="en-IN" dirty="0">
                <a:solidFill>
                  <a:schemeClr val="tx1"/>
                </a:solidFill>
              </a:rPr>
              <a:t>, NLTK)</a:t>
            </a:r>
          </a:p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Named Entity Recognition (NER)</a:t>
            </a:r>
          </a:p>
          <a:p>
            <a:pPr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Dependency Parsing</a:t>
            </a:r>
          </a:p>
          <a:p>
            <a:pPr algn="l">
              <a:lnSpc>
                <a:spcPct val="17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220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66267-5C45-F5E7-B81F-6B0F95D0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CB2E7-EF59-B56B-C461-96F3E8E71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7464"/>
            <a:ext cx="8596668" cy="5278525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b="1" dirty="0"/>
              <a:t>Definition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b="1" dirty="0"/>
              <a:t>Tokenization</a:t>
            </a:r>
            <a:r>
              <a:rPr lang="en-GB" dirty="0"/>
              <a:t> is the process of breaking text into smaller units called </a:t>
            </a:r>
            <a:r>
              <a:rPr lang="en-GB" b="1" dirty="0"/>
              <a:t>tokens</a:t>
            </a:r>
            <a:r>
              <a:rPr lang="en-GB" dirty="0"/>
              <a:t>.</a:t>
            </a:r>
            <a:br>
              <a:rPr lang="en-GB" dirty="0"/>
            </a:br>
            <a:r>
              <a:rPr lang="en-GB" dirty="0"/>
              <a:t>These tokens can be </a:t>
            </a:r>
            <a:r>
              <a:rPr lang="en-GB" b="1" dirty="0"/>
              <a:t>words</a:t>
            </a:r>
            <a:r>
              <a:rPr lang="en-GB" dirty="0"/>
              <a:t>, </a:t>
            </a:r>
            <a:r>
              <a:rPr lang="en-GB" b="1" dirty="0" err="1"/>
              <a:t>subwords</a:t>
            </a:r>
            <a:r>
              <a:rPr lang="en-GB" dirty="0"/>
              <a:t>, </a:t>
            </a:r>
            <a:r>
              <a:rPr lang="en-GB" b="1" dirty="0"/>
              <a:t>characters</a:t>
            </a:r>
            <a:r>
              <a:rPr lang="en-GB" dirty="0"/>
              <a:t>, or even </a:t>
            </a:r>
            <a:r>
              <a:rPr lang="en-GB" b="1" dirty="0"/>
              <a:t>sentences</a:t>
            </a:r>
            <a:r>
              <a:rPr lang="en-GB" dirty="0"/>
              <a:t>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dirty="0"/>
              <a:t>It is the </a:t>
            </a:r>
            <a:r>
              <a:rPr lang="en-GB" b="1" dirty="0"/>
              <a:t>first step</a:t>
            </a:r>
            <a:r>
              <a:rPr lang="en-GB" dirty="0"/>
              <a:t> in most NLP tasks because machines work with structured    inputs, not raw text.</a:t>
            </a:r>
          </a:p>
          <a:p>
            <a:pPr>
              <a:lnSpc>
                <a:spcPct val="160000"/>
              </a:lnSpc>
            </a:pPr>
            <a:r>
              <a:rPr lang="en-GB" b="1" dirty="0"/>
              <a:t>Why Tokenization is needed?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dirty="0"/>
              <a:t>Helps computers understand and process text.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dirty="0"/>
              <a:t>Prepares text for further tasks like </a:t>
            </a:r>
            <a:r>
              <a:rPr lang="en-GB" b="1" dirty="0" err="1"/>
              <a:t>stopword</a:t>
            </a:r>
            <a:r>
              <a:rPr lang="en-GB" b="1" dirty="0"/>
              <a:t> removal</a:t>
            </a:r>
            <a:r>
              <a:rPr lang="en-GB" dirty="0"/>
              <a:t>, </a:t>
            </a:r>
            <a:r>
              <a:rPr lang="en-GB" b="1" dirty="0"/>
              <a:t>stemming</a:t>
            </a:r>
            <a:r>
              <a:rPr lang="en-GB" dirty="0"/>
              <a:t>, </a:t>
            </a:r>
            <a:r>
              <a:rPr lang="en-GB" b="1" dirty="0"/>
              <a:t>lemmatization</a:t>
            </a:r>
            <a:r>
              <a:rPr lang="en-GB" dirty="0"/>
              <a:t>, and </a:t>
            </a:r>
            <a:r>
              <a:rPr lang="en-GB" b="1" dirty="0"/>
              <a:t>model training</a:t>
            </a:r>
            <a:r>
              <a:rPr lang="en-GB" dirty="0"/>
              <a:t>.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v"/>
            </a:pPr>
            <a:r>
              <a:rPr lang="en-GB" dirty="0"/>
              <a:t>Makes text analysis faster and more accurate.</a:t>
            </a:r>
          </a:p>
          <a:p>
            <a:pPr marL="0" indent="0">
              <a:lnSpc>
                <a:spcPct val="16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3574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E9278F1-A997-B0BC-91E4-B5A673E5C0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652" y="343869"/>
            <a:ext cx="8287788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Tokenization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Word Tokenization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text into individual words.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Input: "I love natural language processing." Output: ["I", "love", "natural", "language", "processing", "."]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CE6D313-24DD-F50F-EAF3-F26DBE331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52" y="3800642"/>
            <a:ext cx="804159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Sentence Tokenization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text into sentences.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Input: "NLP is fun. It helps machines understand text." Output: ["NLP is fun.", "It helps machines understand text."]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4843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AB4CDB4F-E2A3-329B-A4C8-BA46A8F82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51" y="744882"/>
            <a:ext cx="7101556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Subword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Tokenization (used in BERT, GPT, etc.)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text into meaningful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Input: "unbelievable"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Subword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tokens: ["un", "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believ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", "able"]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BEFF8BC-388F-49D8-031F-81BCE8AA9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751" y="3191130"/>
            <a:ext cx="6828090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Character Tokenization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Breaks text into individual characters.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Input: "cat" Output: ["c", "a", "t"]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013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0D74491-4739-08A4-082B-EB0B20B32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91" y="679556"/>
            <a:ext cx="8829280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Example Using NLTK (Python)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sent_tokenize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 = "Tokenization is important. It helps NLP models understand text." print(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sent_tokenize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(text))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['Tokenization', 'is', 'important', '.', 'It', 'helps', 'NLP', 'models', 'understand', 'text', '.'] ['Tokenization is important.', 'It helps NLP models understand text.']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51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A2CB0-D683-B9DF-973B-7AA49B0DD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>
                <a:solidFill>
                  <a:srgbClr val="92D050"/>
                </a:solidFill>
              </a:rPr>
              <a:t>Stopword</a:t>
            </a:r>
            <a:r>
              <a:rPr lang="en-IN" dirty="0">
                <a:solidFill>
                  <a:srgbClr val="92D050"/>
                </a:solidFill>
              </a:rPr>
              <a:t> removal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709F8-F92F-7240-7176-D0057F62880D}"/>
              </a:ext>
            </a:extLst>
          </p:cNvPr>
          <p:cNvSpPr txBox="1"/>
          <p:nvPr/>
        </p:nvSpPr>
        <p:spPr>
          <a:xfrm>
            <a:off x="794759" y="1930400"/>
            <a:ext cx="8315058" cy="336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GB" b="1" dirty="0" err="1"/>
              <a:t>Stopword</a:t>
            </a:r>
            <a:r>
              <a:rPr lang="en-GB" b="1" dirty="0"/>
              <a:t> removal</a:t>
            </a:r>
            <a:r>
              <a:rPr lang="en-GB" dirty="0"/>
              <a:t> is the process of removing </a:t>
            </a:r>
            <a:r>
              <a:rPr lang="en-GB" i="1" dirty="0"/>
              <a:t>common, frequently used words</a:t>
            </a:r>
            <a:r>
              <a:rPr lang="en-GB" dirty="0"/>
              <a:t> from text because they usually do </a:t>
            </a:r>
            <a:r>
              <a:rPr lang="en-GB" b="1" dirty="0"/>
              <a:t>not add significant meaning</a:t>
            </a:r>
            <a:r>
              <a:rPr lang="en-GB" dirty="0"/>
              <a:t> in NLP tasks.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 err="1"/>
              <a:t>Stopwords</a:t>
            </a:r>
            <a:r>
              <a:rPr lang="en-GB" dirty="0"/>
              <a:t> include words like: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is, am, are, the, a, an, in, on, of, to, for, with, by, and, or</a:t>
            </a:r>
            <a:r>
              <a:rPr lang="en-GB" dirty="0"/>
              <a:t> etc.</a:t>
            </a:r>
          </a:p>
          <a:p>
            <a:pPr>
              <a:lnSpc>
                <a:spcPct val="150000"/>
              </a:lnSpc>
            </a:pPr>
            <a:r>
              <a:rPr lang="en-GB" dirty="0"/>
              <a:t>These words appear very often but usually </a:t>
            </a:r>
            <a:r>
              <a:rPr lang="en-GB" b="1" dirty="0"/>
              <a:t>do not help</a:t>
            </a:r>
            <a:r>
              <a:rPr lang="en-GB" dirty="0"/>
              <a:t> in understanding the main meaning of the text.</a:t>
            </a:r>
          </a:p>
        </p:txBody>
      </p:sp>
    </p:spTree>
    <p:extLst>
      <p:ext uri="{BB962C8B-B14F-4D97-AF65-F5344CB8AC3E}">
        <p14:creationId xmlns:p14="http://schemas.microsoft.com/office/powerpoint/2010/main" val="2386645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3C7C3F-20F8-728E-F0ED-17A2D823FE5E}"/>
              </a:ext>
            </a:extLst>
          </p:cNvPr>
          <p:cNvSpPr txBox="1"/>
          <p:nvPr/>
        </p:nvSpPr>
        <p:spPr>
          <a:xfrm>
            <a:off x="931493" y="479025"/>
            <a:ext cx="6101696" cy="2949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Why </a:t>
            </a:r>
            <a:r>
              <a:rPr lang="en-GB" b="1" dirty="0" err="1"/>
              <a:t>Stopword</a:t>
            </a:r>
            <a:r>
              <a:rPr lang="en-GB" b="1" dirty="0"/>
              <a:t> Removal is important?</a:t>
            </a:r>
          </a:p>
          <a:p>
            <a:pPr>
              <a:lnSpc>
                <a:spcPct val="150000"/>
              </a:lnSpc>
            </a:pPr>
            <a:endParaRPr lang="en-GB" b="1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Reduces the size of text data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Removes noise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Helps machine learning models focus on </a:t>
            </a:r>
            <a:r>
              <a:rPr lang="en-GB" i="1" dirty="0"/>
              <a:t>important    </a:t>
            </a:r>
          </a:p>
          <a:p>
            <a:pPr>
              <a:lnSpc>
                <a:spcPct val="150000"/>
              </a:lnSpc>
            </a:pPr>
            <a:r>
              <a:rPr lang="en-GB" i="1" dirty="0"/>
              <a:t> words</a:t>
            </a:r>
            <a:endParaRPr lang="en-GB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Speeds up NLP processing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184611F-C9F0-9E3E-E1D1-6401E2C4C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493" y="4006031"/>
            <a:ext cx="6845181" cy="2118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 Without and With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Stopword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Removal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Input Sentence: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"I am learning NLP in the field of artificial intelligence."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After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Stopword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Removal: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["learning", "NLP", "field", "artificial", "intelligence"]</a:t>
            </a:r>
          </a:p>
        </p:txBody>
      </p:sp>
    </p:spTree>
    <p:extLst>
      <p:ext uri="{BB962C8B-B14F-4D97-AF65-F5344CB8AC3E}">
        <p14:creationId xmlns:p14="http://schemas.microsoft.com/office/powerpoint/2010/main" val="77656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28E5BD5-940D-D722-1BC9-738834C86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481" y="643650"/>
            <a:ext cx="6515100" cy="544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 using NLTK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nltk.corpus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 = "This is an example showing how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removal works in NLP."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stop_words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set(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stopwords.words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('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english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’))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words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filtered = [word for word in words if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word.lower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 not in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stop_words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]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print(filtered)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['example', 'showing', '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', 'removal', 'works', 'NLP', '.']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908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FB76EA-17CB-F2B3-1A11-184AAC8DCE25}"/>
              </a:ext>
            </a:extLst>
          </p:cNvPr>
          <p:cNvSpPr txBox="1"/>
          <p:nvPr/>
        </p:nvSpPr>
        <p:spPr>
          <a:xfrm>
            <a:off x="461471" y="1229374"/>
            <a:ext cx="6511895" cy="211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When NOT to remove </a:t>
            </a:r>
            <a:r>
              <a:rPr lang="en-GB" b="1" dirty="0" err="1"/>
              <a:t>stopwords</a:t>
            </a:r>
            <a:endParaRPr lang="en-GB" b="1" dirty="0"/>
          </a:p>
          <a:p>
            <a:pPr>
              <a:lnSpc>
                <a:spcPct val="150000"/>
              </a:lnSpc>
            </a:pPr>
            <a:r>
              <a:rPr lang="en-GB" dirty="0"/>
              <a:t>Sometimes </a:t>
            </a:r>
            <a:r>
              <a:rPr lang="en-GB" dirty="0" err="1"/>
              <a:t>stopwords</a:t>
            </a:r>
            <a:r>
              <a:rPr lang="en-GB" dirty="0"/>
              <a:t> are meaningful, such as: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Sentiment analysis ("not happy" → removing "not" changes meaning)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Question classification ("what", "why", "how" are important)</a:t>
            </a:r>
          </a:p>
        </p:txBody>
      </p:sp>
    </p:spTree>
    <p:extLst>
      <p:ext uri="{BB962C8B-B14F-4D97-AF65-F5344CB8AC3E}">
        <p14:creationId xmlns:p14="http://schemas.microsoft.com/office/powerpoint/2010/main" val="3378795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A25EFB-D33E-67CC-9A28-83CE3745EBC3}"/>
              </a:ext>
            </a:extLst>
          </p:cNvPr>
          <p:cNvSpPr txBox="1"/>
          <p:nvPr/>
        </p:nvSpPr>
        <p:spPr>
          <a:xfrm>
            <a:off x="837489" y="1183784"/>
            <a:ext cx="7939042" cy="253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GB" b="1" dirty="0"/>
              <a:t>Lemmatization</a:t>
            </a:r>
            <a:r>
              <a:rPr lang="en-GB" dirty="0"/>
              <a:t> is the process of converting a word to its </a:t>
            </a:r>
            <a:r>
              <a:rPr lang="en-GB" b="1" dirty="0"/>
              <a:t>base or dictionary form</a:t>
            </a:r>
            <a:r>
              <a:rPr lang="en-GB" dirty="0"/>
              <a:t>, called a </a:t>
            </a:r>
            <a:r>
              <a:rPr lang="en-GB" b="1" dirty="0"/>
              <a:t>lemma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Unlike stemming (which just cuts words), </a:t>
            </a:r>
            <a:r>
              <a:rPr lang="en-GB" b="1" dirty="0"/>
              <a:t>lemmatization understands the meaning</a:t>
            </a:r>
            <a:r>
              <a:rPr lang="en-GB" dirty="0"/>
              <a:t> and uses vocabulary + grammar rules.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647C17-A6E2-13B6-BE61-BE1D3185BAD3}"/>
              </a:ext>
            </a:extLst>
          </p:cNvPr>
          <p:cNvSpPr txBox="1"/>
          <p:nvPr/>
        </p:nvSpPr>
        <p:spPr>
          <a:xfrm>
            <a:off x="777668" y="383629"/>
            <a:ext cx="61016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b="1" dirty="0">
                <a:solidFill>
                  <a:srgbClr val="92D050"/>
                </a:solidFill>
              </a:rPr>
              <a:t>Lemmatization </a:t>
            </a:r>
            <a:endParaRPr lang="en-IN" sz="3600" dirty="0">
              <a:solidFill>
                <a:srgbClr val="92D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4A7A09-5EEF-6D95-4AF4-3BFC065535C2}"/>
              </a:ext>
            </a:extLst>
          </p:cNvPr>
          <p:cNvSpPr txBox="1"/>
          <p:nvPr/>
        </p:nvSpPr>
        <p:spPr>
          <a:xfrm>
            <a:off x="837489" y="4068344"/>
            <a:ext cx="6939185" cy="211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Why Lemmatization is used?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Reduces words to their meaningful root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Helps machine learning models understand text better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Improves accuracy in NLP tasks like text classification, search engines, 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3563238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4ABC87F-09B9-551D-AFCD-98E483291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091348"/>
              </p:ext>
            </p:extLst>
          </p:nvPr>
        </p:nvGraphicFramePr>
        <p:xfrm>
          <a:off x="677863" y="1363232"/>
          <a:ext cx="4295790" cy="21945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47895">
                  <a:extLst>
                    <a:ext uri="{9D8B030D-6E8A-4147-A177-3AD203B41FA5}">
                      <a16:colId xmlns:a16="http://schemas.microsoft.com/office/drawing/2014/main" val="3352545549"/>
                    </a:ext>
                  </a:extLst>
                </a:gridCol>
                <a:gridCol w="2147895">
                  <a:extLst>
                    <a:ext uri="{9D8B030D-6E8A-4147-A177-3AD203B41FA5}">
                      <a16:colId xmlns:a16="http://schemas.microsoft.com/office/drawing/2014/main" val="2497048142"/>
                    </a:ext>
                  </a:extLst>
                </a:gridCol>
              </a:tblGrid>
              <a:tr h="352564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Lemma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722273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 dirty="0"/>
                        <a:t>running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run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44464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/>
                        <a:t>better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good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066729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 dirty="0"/>
                        <a:t>studies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study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8230274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/>
                        <a:t>children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child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178476"/>
                  </a:ext>
                </a:extLst>
              </a:tr>
              <a:tr h="352564">
                <a:tc>
                  <a:txBody>
                    <a:bodyPr/>
                    <a:lstStyle/>
                    <a:p>
                      <a:r>
                        <a:rPr lang="en-IN" dirty="0"/>
                        <a:t>leaves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leaf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30708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BAD7B3FA-BD44-EA4B-ED7C-06E0F5F9C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3" y="826857"/>
            <a:ext cx="56973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 of Lemmatization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7C39607-4C1E-5E7C-AF17-33F04346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222" y="3960878"/>
            <a:ext cx="6500604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Lemmatization Example Sentence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"The children were running and playing in the gardens.“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(lemmatized):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["child", "be", "run", "play", "garden"]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53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96B462D-7DA7-936D-D266-0A84A13CF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667" y="499993"/>
            <a:ext cx="7511753" cy="5858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Lemmatization using NLTK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WordNetLemmatizer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nltk.corpus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wordnet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from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import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lemmatizer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WordNetLemmatizer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text = "The children were running and playing in the gardens."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words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word_tokenize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(text)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lemmatized = 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lemmatizer.lemmatize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(word, pos='v') for word in words]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print(lemmatized)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['The', 'children', 'be', 'run', 'and', 'play', 'in', 'the', 'gardens', '.']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31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77F81-766D-7D23-1EB6-A66C671BB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59950-6510-827D-A947-6D9A04BD8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spaCy</a:t>
            </a:r>
            <a:r>
              <a:rPr lang="en-GB" dirty="0"/>
              <a:t> is designed for </a:t>
            </a:r>
            <a:r>
              <a:rPr lang="en-GB" b="1" dirty="0"/>
              <a:t>real-world NLP applications</a:t>
            </a:r>
            <a:r>
              <a:rPr lang="en-GB" dirty="0"/>
              <a:t>, not just theory. It’s fast, accurate, and widely used in industry.</a:t>
            </a:r>
          </a:p>
          <a:p>
            <a:r>
              <a:rPr lang="en-GB" dirty="0"/>
              <a:t>You can use </a:t>
            </a:r>
            <a:r>
              <a:rPr lang="en-GB" dirty="0" err="1"/>
              <a:t>spaCy</a:t>
            </a:r>
            <a:r>
              <a:rPr lang="en-GB" dirty="0"/>
              <a:t>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Understand sentences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Extract important information from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Build chatbots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Analyze</a:t>
            </a:r>
            <a:r>
              <a:rPr lang="en-GB" dirty="0"/>
              <a:t> documents, news, or social media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5435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72BB2F-5F12-4278-2296-B27FC79AB947}"/>
              </a:ext>
            </a:extLst>
          </p:cNvPr>
          <p:cNvSpPr txBox="1"/>
          <p:nvPr/>
        </p:nvSpPr>
        <p:spPr>
          <a:xfrm>
            <a:off x="828941" y="335845"/>
            <a:ext cx="744338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Example</a:t>
            </a:r>
          </a:p>
          <a:p>
            <a:endParaRPr lang="en-IN" dirty="0"/>
          </a:p>
          <a:p>
            <a:r>
              <a:rPr lang="en-IN" dirty="0"/>
              <a:t>import spacy</a:t>
            </a:r>
          </a:p>
          <a:p>
            <a:endParaRPr lang="en-IN" dirty="0"/>
          </a:p>
          <a:p>
            <a:r>
              <a:rPr lang="en-IN" dirty="0" err="1"/>
              <a:t>nlp</a:t>
            </a:r>
            <a:r>
              <a:rPr lang="en-IN" dirty="0"/>
              <a:t> = </a:t>
            </a:r>
            <a:r>
              <a:rPr lang="en-IN" dirty="0" err="1"/>
              <a:t>spacy.load</a:t>
            </a:r>
            <a:r>
              <a:rPr lang="en-IN" dirty="0"/>
              <a:t>("</a:t>
            </a:r>
            <a:r>
              <a:rPr lang="en-IN" dirty="0" err="1"/>
              <a:t>en_core_web_sm</a:t>
            </a:r>
            <a:r>
              <a:rPr lang="en-IN" dirty="0"/>
              <a:t>")</a:t>
            </a:r>
          </a:p>
          <a:p>
            <a:r>
              <a:rPr lang="en-IN" dirty="0"/>
              <a:t>text = "The children were running and playing in the gardens."</a:t>
            </a:r>
          </a:p>
          <a:p>
            <a:endParaRPr lang="en-IN" dirty="0"/>
          </a:p>
          <a:p>
            <a:r>
              <a:rPr lang="en-IN" dirty="0"/>
              <a:t>doc = </a:t>
            </a:r>
            <a:r>
              <a:rPr lang="en-IN" dirty="0" err="1"/>
              <a:t>nlp</a:t>
            </a:r>
            <a:r>
              <a:rPr lang="en-IN" dirty="0"/>
              <a:t>(text)</a:t>
            </a:r>
          </a:p>
          <a:p>
            <a:endParaRPr lang="en-IN" dirty="0"/>
          </a:p>
          <a:p>
            <a:r>
              <a:rPr lang="en-IN" dirty="0"/>
              <a:t>for token in doc:</a:t>
            </a:r>
          </a:p>
          <a:p>
            <a:r>
              <a:rPr lang="en-IN" dirty="0"/>
              <a:t>    print(</a:t>
            </a:r>
            <a:r>
              <a:rPr lang="en-IN" dirty="0" err="1"/>
              <a:t>token.text</a:t>
            </a:r>
            <a:r>
              <a:rPr lang="en-IN" dirty="0"/>
              <a:t>, "→", </a:t>
            </a:r>
            <a:r>
              <a:rPr lang="en-IN" dirty="0" err="1"/>
              <a:t>token.lemma</a:t>
            </a:r>
            <a:r>
              <a:rPr lang="en-IN" dirty="0"/>
              <a:t>_)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Output:</a:t>
            </a:r>
          </a:p>
          <a:p>
            <a:endParaRPr lang="en-IN" dirty="0"/>
          </a:p>
          <a:p>
            <a:r>
              <a:rPr lang="en-IN" dirty="0"/>
              <a:t>Copy code</a:t>
            </a:r>
          </a:p>
          <a:p>
            <a:r>
              <a:rPr lang="en-IN" dirty="0"/>
              <a:t>The → the</a:t>
            </a:r>
          </a:p>
          <a:p>
            <a:r>
              <a:rPr lang="en-IN" dirty="0"/>
              <a:t>children → child</a:t>
            </a:r>
          </a:p>
          <a:p>
            <a:r>
              <a:rPr lang="en-IN" dirty="0"/>
              <a:t>were → be</a:t>
            </a:r>
          </a:p>
          <a:p>
            <a:r>
              <a:rPr lang="en-IN" dirty="0"/>
              <a:t>running → run</a:t>
            </a:r>
          </a:p>
          <a:p>
            <a:r>
              <a:rPr lang="en-IN" dirty="0"/>
              <a:t>playing → play</a:t>
            </a:r>
          </a:p>
          <a:p>
            <a:r>
              <a:rPr lang="en-IN" dirty="0"/>
              <a:t>gardens → garden</a:t>
            </a:r>
          </a:p>
        </p:txBody>
      </p:sp>
    </p:spTree>
    <p:extLst>
      <p:ext uri="{BB962C8B-B14F-4D97-AF65-F5344CB8AC3E}">
        <p14:creationId xmlns:p14="http://schemas.microsoft.com/office/powerpoint/2010/main" val="2896153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239716-0E24-D9FE-A3D7-EEBB3185FC6A}"/>
              </a:ext>
            </a:extLst>
          </p:cNvPr>
          <p:cNvSpPr txBox="1"/>
          <p:nvPr/>
        </p:nvSpPr>
        <p:spPr>
          <a:xfrm>
            <a:off x="957129" y="1683038"/>
            <a:ext cx="6101696" cy="5027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Definition</a:t>
            </a:r>
          </a:p>
          <a:p>
            <a:pPr>
              <a:lnSpc>
                <a:spcPct val="150000"/>
              </a:lnSpc>
            </a:pPr>
            <a:r>
              <a:rPr lang="en-IN" b="1" dirty="0"/>
              <a:t>Named Entity Recognition (NER)</a:t>
            </a:r>
            <a:r>
              <a:rPr lang="en-IN" dirty="0"/>
              <a:t> is an NLP technique that automatically identifies </a:t>
            </a:r>
            <a:r>
              <a:rPr lang="en-IN" b="1" dirty="0"/>
              <a:t>real-world entities</a:t>
            </a:r>
            <a:r>
              <a:rPr lang="en-IN" dirty="0"/>
              <a:t> in text.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Entities include: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PERSON</a:t>
            </a:r>
            <a:r>
              <a:rPr lang="en-IN" dirty="0"/>
              <a:t> → names of people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ORG</a:t>
            </a:r>
            <a:r>
              <a:rPr lang="en-IN" dirty="0"/>
              <a:t> → organizations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GPE</a:t>
            </a:r>
            <a:r>
              <a:rPr lang="en-IN" dirty="0"/>
              <a:t> → countries, cities, states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DATE</a:t>
            </a:r>
            <a:r>
              <a:rPr lang="en-IN" dirty="0"/>
              <a:t> → dates, years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MONEY</a:t>
            </a:r>
            <a:r>
              <a:rPr lang="en-IN" dirty="0"/>
              <a:t> → amounts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LOC</a:t>
            </a:r>
            <a:r>
              <a:rPr lang="en-IN" dirty="0"/>
              <a:t> → locations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EVENT</a:t>
            </a:r>
            <a:r>
              <a:rPr lang="en-IN" dirty="0"/>
              <a:t> → events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9A989-FC90-4D67-574B-45D2F8EECAB1}"/>
              </a:ext>
            </a:extLst>
          </p:cNvPr>
          <p:cNvSpPr txBox="1"/>
          <p:nvPr/>
        </p:nvSpPr>
        <p:spPr>
          <a:xfrm>
            <a:off x="957129" y="605820"/>
            <a:ext cx="610169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92D050"/>
                </a:solidFill>
              </a:rPr>
              <a:t>Named Entity Recognition (NER) — </a:t>
            </a:r>
            <a:endParaRPr lang="en-IN" sz="32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974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ADB6A5-DBCE-0140-F5C7-46FF0B04A999}"/>
              </a:ext>
            </a:extLst>
          </p:cNvPr>
          <p:cNvSpPr txBox="1"/>
          <p:nvPr/>
        </p:nvSpPr>
        <p:spPr>
          <a:xfrm>
            <a:off x="999858" y="577839"/>
            <a:ext cx="6101696" cy="585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Why NER is Important?</a:t>
            </a:r>
          </a:p>
          <a:p>
            <a:pPr>
              <a:lnSpc>
                <a:spcPct val="150000"/>
              </a:lnSpc>
            </a:pPr>
            <a:endParaRPr lang="en-GB" b="1" dirty="0"/>
          </a:p>
          <a:p>
            <a:pPr>
              <a:lnSpc>
                <a:spcPct val="150000"/>
              </a:lnSpc>
            </a:pPr>
            <a:r>
              <a:rPr lang="en-GB" dirty="0"/>
              <a:t>NER helps machines understand: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Who is involved?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Where did something happen?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When did it happen?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What organization, product, or location is referenced?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Used in: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Chatbots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Search engines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Fake news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Resume parsing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Data extraction</a:t>
            </a:r>
          </a:p>
        </p:txBody>
      </p:sp>
    </p:spTree>
    <p:extLst>
      <p:ext uri="{BB962C8B-B14F-4D97-AF65-F5344CB8AC3E}">
        <p14:creationId xmlns:p14="http://schemas.microsoft.com/office/powerpoint/2010/main" val="1705658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6AC3886-8193-1A07-B9D3-9068478EF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405" y="600924"/>
            <a:ext cx="5785502" cy="5442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NER Code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import spacy</a:t>
            </a:r>
            <a:br>
              <a:rPr lang="en-US" altLang="en-US" dirty="0"/>
            </a:br>
            <a:r>
              <a:rPr lang="en-US" altLang="en-US" dirty="0" err="1"/>
              <a:t>nlp</a:t>
            </a:r>
            <a:r>
              <a:rPr lang="en-US" altLang="en-US" dirty="0"/>
              <a:t> = </a:t>
            </a:r>
            <a:r>
              <a:rPr lang="en-US" altLang="en-US" dirty="0" err="1"/>
              <a:t>spacy.load</a:t>
            </a:r>
            <a:r>
              <a:rPr lang="en-US" altLang="en-US" dirty="0"/>
              <a:t>("</a:t>
            </a:r>
            <a:r>
              <a:rPr lang="en-US" altLang="en-US" dirty="0" err="1"/>
              <a:t>en_core_web_sm</a:t>
            </a:r>
            <a:r>
              <a:rPr lang="en-US" altLang="en-US" dirty="0"/>
              <a:t>")</a:t>
            </a:r>
            <a:br>
              <a:rPr lang="en-US" altLang="en-US" dirty="0"/>
            </a:br>
            <a:r>
              <a:rPr lang="en-US" altLang="en-US" dirty="0"/>
              <a:t>text = "Google was founded by Larry Page and Sergey Brin at Stanford University in 1998."</a:t>
            </a:r>
            <a:br>
              <a:rPr lang="en-US" altLang="en-US" dirty="0"/>
            </a:br>
            <a:r>
              <a:rPr lang="en-US" altLang="en-US" dirty="0"/>
              <a:t>doc = </a:t>
            </a:r>
            <a:r>
              <a:rPr lang="en-US" altLang="en-US" dirty="0" err="1"/>
              <a:t>nlp</a:t>
            </a:r>
            <a:r>
              <a:rPr lang="en-US" altLang="en-US" dirty="0"/>
              <a:t>(text)</a:t>
            </a:r>
            <a:br>
              <a:rPr lang="en-US" altLang="en-US" dirty="0"/>
            </a:br>
            <a:r>
              <a:rPr lang="en-US" altLang="en-US" dirty="0"/>
              <a:t>for </a:t>
            </a:r>
            <a:r>
              <a:rPr lang="en-US" altLang="en-US" dirty="0" err="1"/>
              <a:t>ent</a:t>
            </a:r>
            <a:r>
              <a:rPr lang="en-US" altLang="en-US" dirty="0"/>
              <a:t> in </a:t>
            </a:r>
            <a:r>
              <a:rPr lang="en-US" altLang="en-US" dirty="0" err="1"/>
              <a:t>doc.ents</a:t>
            </a:r>
            <a:r>
              <a:rPr lang="en-US" altLang="en-US" dirty="0"/>
              <a:t>:</a:t>
            </a:r>
            <a:br>
              <a:rPr lang="en-US" altLang="en-US" dirty="0"/>
            </a:br>
            <a:r>
              <a:rPr lang="en-US" altLang="en-US" dirty="0"/>
              <a:t>    print(</a:t>
            </a:r>
            <a:r>
              <a:rPr lang="en-US" altLang="en-US" dirty="0" err="1"/>
              <a:t>ent.text</a:t>
            </a:r>
            <a:r>
              <a:rPr lang="en-US" altLang="en-US" dirty="0"/>
              <a:t>, </a:t>
            </a:r>
            <a:r>
              <a:rPr lang="en-US" altLang="en-US" dirty="0" err="1"/>
              <a:t>ent.label</a:t>
            </a:r>
            <a:r>
              <a:rPr lang="en-US" altLang="en-US" dirty="0"/>
              <a:t>_)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Google ORG Larry Page PERSON Sergey Brin PERSON Stanford University ORG 1998 DATE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777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00D0-DC3E-CFB8-4C01-A0BD69202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Dependency Parsing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5B19EF-9F36-006E-252E-1460749390BA}"/>
              </a:ext>
            </a:extLst>
          </p:cNvPr>
          <p:cNvSpPr txBox="1"/>
          <p:nvPr/>
        </p:nvSpPr>
        <p:spPr>
          <a:xfrm>
            <a:off x="677334" y="2338562"/>
            <a:ext cx="6101696" cy="2949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What is Dependency Parsing?</a:t>
            </a:r>
          </a:p>
          <a:p>
            <a:pPr>
              <a:lnSpc>
                <a:spcPct val="150000"/>
              </a:lnSpc>
            </a:pPr>
            <a:r>
              <a:rPr lang="en-GB" b="1" dirty="0"/>
              <a:t>Dependency Parsing</a:t>
            </a:r>
            <a:r>
              <a:rPr lang="en-GB" dirty="0"/>
              <a:t> is an NLP technique that </a:t>
            </a:r>
            <a:r>
              <a:rPr lang="en-GB" dirty="0" err="1"/>
              <a:t>analyzes</a:t>
            </a:r>
            <a:r>
              <a:rPr lang="en-GB" dirty="0"/>
              <a:t> the </a:t>
            </a:r>
            <a:r>
              <a:rPr lang="en-GB" b="1" dirty="0"/>
              <a:t>grammatical structure</a:t>
            </a:r>
            <a:r>
              <a:rPr lang="en-GB" dirty="0"/>
              <a:t> of a sentence and identifies: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the relationships between words</a:t>
            </a:r>
            <a:r>
              <a:rPr lang="en-GB" dirty="0"/>
              <a:t>,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which word is the main word (head)</a:t>
            </a:r>
            <a:r>
              <a:rPr lang="en-GB" dirty="0"/>
              <a:t>,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and which words depend on it (dependents).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It helps machines understand </a:t>
            </a:r>
            <a:r>
              <a:rPr lang="en-GB" i="1" dirty="0"/>
              <a:t>who did what to whom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822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238EDD-59D8-745A-DADD-7AA39DCB832F}"/>
              </a:ext>
            </a:extLst>
          </p:cNvPr>
          <p:cNvSpPr txBox="1"/>
          <p:nvPr/>
        </p:nvSpPr>
        <p:spPr>
          <a:xfrm>
            <a:off x="871671" y="1037834"/>
            <a:ext cx="6101696" cy="3365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Why is Dependency Parsing useful?</a:t>
            </a:r>
          </a:p>
          <a:p>
            <a:pPr>
              <a:lnSpc>
                <a:spcPct val="150000"/>
              </a:lnSpc>
            </a:pPr>
            <a:r>
              <a:rPr lang="en-IN" dirty="0"/>
              <a:t>It helps in:</a:t>
            </a:r>
          </a:p>
          <a:p>
            <a:pPr>
              <a:lnSpc>
                <a:spcPct val="150000"/>
              </a:lnSpc>
            </a:pPr>
            <a:r>
              <a:rPr lang="en-IN" dirty="0"/>
              <a:t>✔ Understanding sentence meaning</a:t>
            </a:r>
            <a:br>
              <a:rPr lang="en-IN" dirty="0"/>
            </a:br>
            <a:r>
              <a:rPr lang="en-IN" dirty="0"/>
              <a:t>✔ Information extraction</a:t>
            </a:r>
            <a:br>
              <a:rPr lang="en-IN" dirty="0"/>
            </a:br>
            <a:r>
              <a:rPr lang="en-IN" dirty="0"/>
              <a:t>✔ Chatbots</a:t>
            </a:r>
            <a:br>
              <a:rPr lang="en-IN" dirty="0"/>
            </a:br>
            <a:r>
              <a:rPr lang="en-IN" dirty="0"/>
              <a:t>✔ Sentiment analysis</a:t>
            </a:r>
            <a:br>
              <a:rPr lang="en-IN" dirty="0"/>
            </a:br>
            <a:r>
              <a:rPr lang="en-IN" dirty="0"/>
              <a:t>✔ Machine translation</a:t>
            </a:r>
            <a:br>
              <a:rPr lang="en-IN" dirty="0"/>
            </a:br>
            <a:r>
              <a:rPr lang="en-IN" dirty="0"/>
              <a:t>✔ Question-answering systems</a:t>
            </a:r>
          </a:p>
        </p:txBody>
      </p:sp>
    </p:spTree>
    <p:extLst>
      <p:ext uri="{BB962C8B-B14F-4D97-AF65-F5344CB8AC3E}">
        <p14:creationId xmlns:p14="http://schemas.microsoft.com/office/powerpoint/2010/main" val="28348739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0881E7B-C1FE-2D40-F7A7-2319C0AF4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3323" y="489231"/>
            <a:ext cx="4238714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Example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Sentence: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The cat sat on the mat.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Dependency Relations: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ROOT (main verb)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subject of "sat"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object of the preposition "on"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modifies "sat"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430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FF72900-642E-A8C3-3FFA-2F3C6171F647}"/>
              </a:ext>
            </a:extLst>
          </p:cNvPr>
          <p:cNvSpPr txBox="1"/>
          <p:nvPr/>
        </p:nvSpPr>
        <p:spPr>
          <a:xfrm>
            <a:off x="965676" y="862193"/>
            <a:ext cx="6101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Common Dependency Labels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5F481D4-7D73-5450-91EB-CFA3BCC5D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419588"/>
              </p:ext>
            </p:extLst>
          </p:nvPr>
        </p:nvGraphicFramePr>
        <p:xfrm>
          <a:off x="1060215" y="1562382"/>
          <a:ext cx="6101696" cy="388143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050848">
                  <a:extLst>
                    <a:ext uri="{9D8B030D-6E8A-4147-A177-3AD203B41FA5}">
                      <a16:colId xmlns:a16="http://schemas.microsoft.com/office/drawing/2014/main" val="2320179431"/>
                    </a:ext>
                  </a:extLst>
                </a:gridCol>
                <a:gridCol w="3050848">
                  <a:extLst>
                    <a:ext uri="{9D8B030D-6E8A-4147-A177-3AD203B41FA5}">
                      <a16:colId xmlns:a16="http://schemas.microsoft.com/office/drawing/2014/main" val="1643454308"/>
                    </a:ext>
                  </a:extLst>
                </a:gridCol>
              </a:tblGrid>
              <a:tr h="352858">
                <a:tc>
                  <a:txBody>
                    <a:bodyPr/>
                    <a:lstStyle/>
                    <a:p>
                      <a:r>
                        <a:rPr lang="en-IN" sz="1700"/>
                        <a:t>Label</a:t>
                      </a:r>
                    </a:p>
                  </a:txBody>
                  <a:tcPr marL="88214" marR="88214" marT="44107" marB="44107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Meaning</a:t>
                      </a:r>
                    </a:p>
                  </a:txBody>
                  <a:tcPr marL="88214" marR="88214" marT="44107" marB="44107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342784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ROOT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Main verb of sentence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586100986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nsubj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Nominal subject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135133315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dobj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Direct object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508575775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iobj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Indirect object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60323956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amod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Adjective modifier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007609334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advmod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Adverb modifier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2914942474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prep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Prepositional modifier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364094470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pobj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Object of preposition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165495897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conj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Conjunction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1096574590"/>
                  </a:ext>
                </a:extLst>
              </a:tr>
              <a:tr h="352858">
                <a:tc>
                  <a:txBody>
                    <a:bodyPr/>
                    <a:lstStyle/>
                    <a:p>
                      <a:r>
                        <a:rPr lang="en-IN" sz="1700" b="1"/>
                        <a:t>det</a:t>
                      </a:r>
                      <a:endParaRPr lang="en-IN" sz="1700"/>
                    </a:p>
                  </a:txBody>
                  <a:tcPr marL="88214" marR="88214" marT="44107" marB="44107" anchor="ctr"/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Determiner (the, a)</a:t>
                      </a:r>
                    </a:p>
                  </a:txBody>
                  <a:tcPr marL="88214" marR="88214" marT="44107" marB="44107" anchor="ctr"/>
                </a:tc>
                <a:extLst>
                  <a:ext uri="{0D108BD9-81ED-4DB2-BD59-A6C34878D82A}">
                    <a16:rowId xmlns:a16="http://schemas.microsoft.com/office/drawing/2014/main" val="304211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8578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11A4438-14E0-329F-5DB2-62D658D5F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12" y="751344"/>
            <a:ext cx="748611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spacy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nlp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spacy.load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en_core_web_sm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= "John bought a new car yesterday."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doc =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nlp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(text)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 token in doc: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print(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token.text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"→",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token.dep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_, "→",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token.head.text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Output: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John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nsubj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bought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bought → ROOT → bought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 → det → car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new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amod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car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car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dobj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bought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yesterday →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npadvmod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→ bought</a:t>
            </a:r>
          </a:p>
        </p:txBody>
      </p:sp>
    </p:spTree>
    <p:extLst>
      <p:ext uri="{BB962C8B-B14F-4D97-AF65-F5344CB8AC3E}">
        <p14:creationId xmlns:p14="http://schemas.microsoft.com/office/powerpoint/2010/main" val="14250310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822</TotalTime>
  <Words>1416</Words>
  <Application>Microsoft Office PowerPoint</Application>
  <PresentationFormat>Widescreen</PresentationFormat>
  <Paragraphs>239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Unicode MS</vt:lpstr>
      <vt:lpstr>Times New Roman</vt:lpstr>
      <vt:lpstr>Trebuchet MS</vt:lpstr>
      <vt:lpstr>Wingdings</vt:lpstr>
      <vt:lpstr>Wingdings 3</vt:lpstr>
      <vt:lpstr>Facet</vt:lpstr>
      <vt:lpstr>NLP Technologies</vt:lpstr>
      <vt:lpstr>Tokenization</vt:lpstr>
      <vt:lpstr>PowerPoint Presentation</vt:lpstr>
      <vt:lpstr>PowerPoint Presentation</vt:lpstr>
      <vt:lpstr>PowerPoint Presentation</vt:lpstr>
      <vt:lpstr>Stopword removal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Spacy</vt:lpstr>
      <vt:lpstr>PowerPoint Presentation</vt:lpstr>
      <vt:lpstr>PowerPoint Presentation</vt:lpstr>
      <vt:lpstr>PowerPoint Presentation</vt:lpstr>
      <vt:lpstr>PowerPoint Presentation</vt:lpstr>
      <vt:lpstr>Dependency Parsing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VIGNESH-HOME</dc:creator>
  <cp:lastModifiedBy>VIGNESH-HOME</cp:lastModifiedBy>
  <cp:revision>34</cp:revision>
  <dcterms:created xsi:type="dcterms:W3CDTF">2025-12-08T06:18:23Z</dcterms:created>
  <dcterms:modified xsi:type="dcterms:W3CDTF">2026-02-11T13:44:43Z</dcterms:modified>
</cp:coreProperties>
</file>